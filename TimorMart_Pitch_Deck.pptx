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Costa, Januario (FAOTL)" userId="ad2e17ff-4415-40e7-85a1-78afcd4648ba" providerId="ADAL" clId="{7210AA92-918F-4704-9AEB-20E453882CAD}"/>
    <pc:docChg chg="custSel modSld">
      <pc:chgData name="DaCosta, Januario (FAOTL)" userId="ad2e17ff-4415-40e7-85a1-78afcd4648ba" providerId="ADAL" clId="{7210AA92-918F-4704-9AEB-20E453882CAD}" dt="2026-07-15T07:18:57.110" v="0" actId="478"/>
      <pc:docMkLst>
        <pc:docMk/>
      </pc:docMkLst>
      <pc:sldChg chg="delSp mod">
        <pc:chgData name="DaCosta, Januario (FAOTL)" userId="ad2e17ff-4415-40e7-85a1-78afcd4648ba" providerId="ADAL" clId="{7210AA92-918F-4704-9AEB-20E453882CAD}" dt="2026-07-15T07:18:57.110" v="0" actId="478"/>
        <pc:sldMkLst>
          <pc:docMk/>
          <pc:sldMk cId="0" sldId="257"/>
        </pc:sldMkLst>
        <pc:spChg chg="del">
          <ac:chgData name="DaCosta, Januario (FAOTL)" userId="ad2e17ff-4415-40e7-85a1-78afcd4648ba" providerId="ADAL" clId="{7210AA92-918F-4704-9AEB-20E453882CAD}" dt="2026-07-15T07:18:57.110" v="0" actId="478"/>
          <ac:spMkLst>
            <pc:docMk/>
            <pc:sldMk cId="0" sldId="257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822960"/>
            <a:ext cx="2377440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342900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Calibri"/>
              </a:rPr>
              <a:t>Timor-Leste's Digital Marketplace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77639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Calibri"/>
              </a:rPr>
              <a:t>A bilingual, moderated e-commerce platform built around Timor-Leste's existing commercial and payment practices.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184648" y="4617720"/>
            <a:ext cx="1828800" cy="0"/>
          </a:xfrm>
          <a:prstGeom prst="line">
            <a:avLst/>
          </a:prstGeom>
          <a:ln w="28575">
            <a:solidFill>
              <a:srgbClr val="F2C4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97280" y="480060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Calibri"/>
              </a:rPr>
              <a:t>Investor / Partner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D2232A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Timor-Leste's retail sector remains predominantly informal and fragmented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3493008" cy="329184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93008" cy="50800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298094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Absence of a trusted digital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97480"/>
            <a:ext cx="2980944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Calibri"/>
              </a:rPr>
              <a:t>Commerce is conducted through market stalls, informal referral networks, and unmoderated social media groups, without seller verification, dispute resolution, or accountability mechanisms.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6" y="1783080"/>
            <a:ext cx="3493008" cy="329184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34256" y="1783080"/>
            <a:ext cx="3493008" cy="50800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2057400"/>
            <a:ext cx="298094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Payment infrastructure misaligned with local behavior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697480"/>
            <a:ext cx="2980944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Calibri"/>
              </a:rPr>
              <a:t>International marketplace platforms assume card-based payment rails. The majority of local commerce instead relies on direct bank and mobile-money transfers between known parties.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2" y="1783080"/>
            <a:ext cx="3493008" cy="329184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28432" y="1783080"/>
            <a:ext cx="3493008" cy="50800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4" y="2057400"/>
            <a:ext cx="298094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No platform designed for the local 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697480"/>
            <a:ext cx="2980944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Calibri"/>
              </a:rPr>
              <a:t>Existing platforms such as Facebook Marketplace and OLX are generic, English-first, and lack support for Tetum, local delivery logistics, or Timor-Leste's municipal structure.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1A1A1A"/>
                </a:solidFill>
                <a:latin typeface="Calibri"/>
              </a:rPr>
              <a:t>As a result, commercial activity continues to occur off-platform and untracked, without the trust infrastructure required for a marketplace — or its sellers — to scale.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B6B6B"/>
                </a:solidFill>
                <a:latin typeface="Calibri"/>
              </a:rPr>
              <a:t>TimorMart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C44D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TimorMart is a bilingual digital marketplace designed around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Timor-Leste's existing commercial and payment behaviors.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14600"/>
            <a:ext cx="2011680" cy="38100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2880360"/>
            <a:ext cx="82296" cy="1417320"/>
          </a:xfrm>
          <a:prstGeom prst="rect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Moderation &amp;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CFCFCF"/>
                </a:solidFill>
                <a:latin typeface="Calibri"/>
              </a:rPr>
              <a:t>Every listing undergoes review prior to publication; all administrative actions are recorded in an audit log.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2880360"/>
            <a:ext cx="82296" cy="1417320"/>
          </a:xfrm>
          <a:prstGeom prst="rect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28803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Flexible payment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3375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CFCFCF"/>
                </a:solidFill>
                <a:latin typeface="Calibri"/>
              </a:rPr>
              <a:t>Supports Stripe card checkout or direct bank/mobile-money transfer to the seller, without mandating a card-based rail.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72000"/>
            <a:ext cx="82296" cy="1417320"/>
          </a:xfrm>
          <a:prstGeom prst="rect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Verifiable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CFCFCF"/>
                </a:solidFill>
                <a:latin typeface="Calibri"/>
              </a:rPr>
              <a:t>A dedicated courier role enforces photographic proof of delivery, with tracking through the full fulfillment lifecycle.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4572000"/>
            <a:ext cx="82296" cy="1417320"/>
          </a:xfrm>
          <a:prstGeom prst="rect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45720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Local market alignment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02920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CFCFCF"/>
                </a:solidFill>
                <a:latin typeface="Calibri"/>
              </a:rPr>
              <a:t>Complete Tetum-language localization, WhatsApp-based seller contact, category-specific rules for high-value items, and a dedicated support hotline.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B6B6B"/>
                </a:solidFill>
                <a:latin typeface="Calibri"/>
              </a:rPr>
              <a:t>TimorMart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D2232A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libri"/>
              </a:rPr>
              <a:t>One flow, five roles, fully tracked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E7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203807" y="2011680"/>
            <a:ext cx="502920" cy="502920"/>
          </a:xfrm>
          <a:prstGeom prst="ellipse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447" y="269748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" y="3108960"/>
            <a:ext cx="1691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Seller posts a product;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free up to 10 listings</a:t>
            </a:r>
          </a:p>
        </p:txBody>
      </p:sp>
      <p:sp>
        <p:nvSpPr>
          <p:cNvPr id="8" name="Chevron 7"/>
          <p:cNvSpPr/>
          <p:nvPr/>
        </p:nvSpPr>
        <p:spPr>
          <a:xfrm>
            <a:off x="2282799" y="2258568"/>
            <a:ext cx="201168" cy="201168"/>
          </a:xfrm>
          <a:prstGeom prst="chevron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060039" y="2011680"/>
            <a:ext cx="502920" cy="502920"/>
          </a:xfrm>
          <a:prstGeom prst="ellipse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5679" y="269748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Moderate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5679" y="3108960"/>
            <a:ext cx="1691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Admin reviews &amp; approves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— or requests changes</a:t>
            </a:r>
          </a:p>
        </p:txBody>
      </p:sp>
      <p:sp>
        <p:nvSpPr>
          <p:cNvPr id="12" name="Chevron 11"/>
          <p:cNvSpPr/>
          <p:nvPr/>
        </p:nvSpPr>
        <p:spPr>
          <a:xfrm>
            <a:off x="4139031" y="2258568"/>
            <a:ext cx="201168" cy="201168"/>
          </a:xfrm>
          <a:prstGeom prst="chevron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16271" y="2011680"/>
            <a:ext cx="502920" cy="502920"/>
          </a:xfrm>
          <a:prstGeom prst="ellipse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1911" y="269748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Discover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1911" y="3108960"/>
            <a:ext cx="1691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Buyer browses, searches,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filters by category &amp; city</a:t>
            </a:r>
          </a:p>
        </p:txBody>
      </p:sp>
      <p:sp>
        <p:nvSpPr>
          <p:cNvPr id="16" name="Chevron 15"/>
          <p:cNvSpPr/>
          <p:nvPr/>
        </p:nvSpPr>
        <p:spPr>
          <a:xfrm>
            <a:off x="5995263" y="2258568"/>
            <a:ext cx="201168" cy="201168"/>
          </a:xfrm>
          <a:prstGeom prst="chevron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772503" y="2011680"/>
            <a:ext cx="502920" cy="502920"/>
          </a:xfrm>
          <a:prstGeom prst="ellipse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8143" y="269748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Pay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8143" y="3108960"/>
            <a:ext cx="1691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Stripe card, or direct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bank / mobile transfer</a:t>
            </a:r>
          </a:p>
        </p:txBody>
      </p:sp>
      <p:sp>
        <p:nvSpPr>
          <p:cNvPr id="20" name="Chevron 19"/>
          <p:cNvSpPr/>
          <p:nvPr/>
        </p:nvSpPr>
        <p:spPr>
          <a:xfrm>
            <a:off x="7851495" y="2258568"/>
            <a:ext cx="201168" cy="201168"/>
          </a:xfrm>
          <a:prstGeom prst="chevron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28735" y="2011680"/>
            <a:ext cx="502920" cy="502920"/>
          </a:xfrm>
          <a:prstGeom prst="ellipse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4375" y="269748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Deliver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4375" y="3108960"/>
            <a:ext cx="1691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Courier ships &amp; confirms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with a required photo</a:t>
            </a:r>
          </a:p>
        </p:txBody>
      </p:sp>
      <p:sp>
        <p:nvSpPr>
          <p:cNvPr id="24" name="Chevron 23"/>
          <p:cNvSpPr/>
          <p:nvPr/>
        </p:nvSpPr>
        <p:spPr>
          <a:xfrm>
            <a:off x="9707727" y="2258568"/>
            <a:ext cx="201168" cy="201168"/>
          </a:xfrm>
          <a:prstGeom prst="chevron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484967" y="2011680"/>
            <a:ext cx="502920" cy="502920"/>
          </a:xfrm>
          <a:prstGeom prst="ellipse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90607" y="269748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0607" y="3108960"/>
            <a:ext cx="1691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Buyer rates 1–5 stars;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notifications at every step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434840"/>
            <a:ext cx="10881360" cy="16002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Continuous transaction notifications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2920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B6B6B"/>
                </a:solidFill>
                <a:latin typeface="Calibri"/>
              </a:rPr>
              <a:t>In-app and email notifications are triggered for both parties at each transaction milestone — order placement, payment submission, payment confirmation, shipment, delivery updates, and final delivery.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B6B6B"/>
                </a:solidFill>
                <a:latin typeface="Calibri"/>
              </a:rPr>
              <a:t>TimorMart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D2232A"/>
                </a:solidFill>
                <a:latin typeface="Calibri"/>
              </a:rPr>
              <a:t>THE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libri"/>
              </a:rPr>
              <a:t>Purpose-built experiences for every participant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E7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2066543" cy="429768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2066543" cy="82296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7007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Buyer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70078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Product discovery via search and category/location filters; cart and checkout; order tracking; pre-payment cancellation; dispute resolution; and post-delivery ratings.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871215" y="1783080"/>
            <a:ext cx="2066543" cy="429768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71215" y="1783080"/>
            <a:ext cx="2066543" cy="8229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54095" y="2011680"/>
            <a:ext cx="17007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Seller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5" y="2514600"/>
            <a:ext cx="170078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Lists up to ten products at no cost, with unlimited listings available on a paid subscription; manages orders, shipping, and payouts; configures bank/mobile payment details.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02350" y="1783080"/>
            <a:ext cx="2066543" cy="429768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02350" y="1783080"/>
            <a:ext cx="2066543" cy="82296"/>
          </a:xfrm>
          <a:prstGeom prst="rect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85230" y="2011680"/>
            <a:ext cx="17007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Buyer &amp; Seller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0" y="2514600"/>
            <a:ext cx="170078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A single account supporting both roles, reflecting the common profile of Timor-Leste's micro-entrepreneurs who purchase inventory for resale.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5" y="1783080"/>
            <a:ext cx="2066543" cy="429768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33485" y="1783080"/>
            <a:ext cx="2066543" cy="82296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16365" y="2011680"/>
            <a:ext cx="17007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Courier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5" y="2514600"/>
            <a:ext cx="170078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A dedicated delivery dashboard for assigned orders, with mandatory photographic delivery confirmation and administrator-managed reassignment.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64620" y="1783080"/>
            <a:ext cx="2066543" cy="429768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64620" y="1783080"/>
            <a:ext cx="2066543" cy="8229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47500" y="2011680"/>
            <a:ext cx="17007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Administrator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47500" y="2514600"/>
            <a:ext cx="1700783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Comprehensive moderation queue, user and role administration, payout and subscription management, platform configuration, and a complete audit trail.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B6B6B"/>
                </a:solidFill>
                <a:latin typeface="Calibri"/>
              </a:rPr>
              <a:t>TimorMart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D2232A"/>
                </a:solidFill>
                <a:latin typeface="Calibri"/>
              </a:rPr>
              <a:t>WHAT'S ALREADY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libri"/>
              </a:rPr>
              <a:t>Production-ready platform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E7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50">
                <a:solidFill>
                  <a:srgbClr val="2B2B2B"/>
                </a:solidFill>
                <a:latin typeface="Calibri"/>
              </a:rPr>
              <a:t>●  Trust &amp; moderation — approval queue, moderation notes, full audit log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50">
                <a:solidFill>
                  <a:srgbClr val="2B2B2B"/>
                </a:solidFill>
                <a:latin typeface="Calibri"/>
              </a:rPr>
              <a:t>●  Dual payment rails — Stripe card, or zero-commission bank/mobile transfer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50">
                <a:solidFill>
                  <a:srgbClr val="2B2B2B"/>
                </a:solidFill>
                <a:latin typeface="Calibri"/>
              </a:rPr>
              <a:t>●  Full order lifecycle — cart → checkout → ship → deliver, with photo proof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50">
                <a:solidFill>
                  <a:srgbClr val="2B2B2B"/>
                </a:solidFill>
                <a:latin typeface="Calibri"/>
              </a:rPr>
              <a:t>●  Ratings — 1–5 stars, restricted to buyers with a verified delivered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78308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50">
                <a:solidFill>
                  <a:srgbClr val="2B2B2B"/>
                </a:solidFill>
                <a:latin typeface="Calibri"/>
              </a:rPr>
              <a:t>●  Disputes — buyer-initiated, seller response deadline, admin oversight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50">
                <a:solidFill>
                  <a:srgbClr val="2B2B2B"/>
                </a:solidFill>
                <a:latin typeface="Calibri"/>
              </a:rPr>
              <a:t>●  Seller subscriptions — free 10-listing tier, $11/mo or $100/yr unlimited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50">
                <a:solidFill>
                  <a:srgbClr val="2B2B2B"/>
                </a:solidFill>
                <a:latin typeface="Calibri"/>
              </a:rPr>
              <a:t>●  Community sentiment — comments auto-scored across Tetum/Portuguese/English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50">
                <a:solidFill>
                  <a:srgbClr val="2B2B2B"/>
                </a:solidFill>
                <a:latin typeface="Calibri"/>
              </a:rPr>
              <a:t>●  Category rules — big-ticket items (housing, vehicles) route to direct contact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B6B6B"/>
                </a:solidFill>
                <a:latin typeface="Calibri"/>
              </a:rPr>
              <a:t>TimorMart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D2232A"/>
                </a:solidFill>
                <a:latin typeface="Calibri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Revenue model embedded in the platform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E7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3493008" cy="288036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965960"/>
            <a:ext cx="298094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D2232A"/>
                </a:solidFill>
                <a:latin typeface="Calibri"/>
              </a:rPr>
              <a:t>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69748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Commission on card checkout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154680"/>
            <a:ext cx="2980944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Calibri"/>
              </a:rPr>
              <a:t>Applied automatically on every Stripe transaction, split correctly even across multi-seller carts.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6" y="1783080"/>
            <a:ext cx="3493008" cy="288036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965960"/>
            <a:ext cx="298094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D2232A"/>
                </a:solidFill>
                <a:latin typeface="Calibri"/>
              </a:rPr>
              <a:t>$11–$100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69748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Seller subscriptions / mo–yr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3154680"/>
            <a:ext cx="2980944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Calibri"/>
              </a:rPr>
              <a:t>Recurring revenue once a seller outgrows the free 10-listing tier — independent of transaction volume.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2" y="1783080"/>
            <a:ext cx="3493008" cy="288036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84464" y="1965960"/>
            <a:ext cx="298094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D2232A"/>
                </a:solidFill>
                <a:latin typeface="Calibri"/>
              </a:rPr>
              <a:t>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69748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Commission on direct transfer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3154680"/>
            <a:ext cx="2980944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Calibri"/>
              </a:rPr>
              <a:t>Deliberate: the platform never touches this money, sidestepping money-transmitter licensing while matching real local habits.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Planned, not yet implemented: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6B6B"/>
                </a:solidFill>
                <a:latin typeface="Calibri"/>
              </a:rPr>
              <a:t>Featured-listing placements  ·  category advertising takeovers  ·  logistics/shipping partnerships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B6B6B"/>
                </a:solidFill>
                <a:latin typeface="Calibri"/>
              </a:rPr>
              <a:t>TimorMart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D2232A"/>
                </a:solidFill>
                <a:latin typeface="Calibri"/>
              </a:rP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An underserved retail 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E7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63093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Day-to-day commerce in Timor-Leste remains dominated by informal trade and unstructured social-media groups. No incumbent platform is purpose-built for this market: none offer Tetum-language support, a localized delivery model, a seller trust framework, or payment flows aligned with existing consumer behavior.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400" b="0" i="0">
              <a:solidFill>
                <a:srgbClr val="2B2B2B"/>
              </a:solidFill>
              <a:latin typeface="Calibri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This represents a first-mover opportunity for a platform architected around the market's actual conditions, rather than one adapted from a global template.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783080"/>
            <a:ext cx="2377440" cy="38100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191008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500–1,000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404872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Calibri"/>
              </a:rPr>
              <a:t>sellers targeted, Year 1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1783080"/>
            <a:ext cx="2377440" cy="38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0" y="191008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5,000–10,000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2404872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Calibri"/>
              </a:rPr>
              <a:t>buyers targeted, Year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3291840"/>
            <a:ext cx="2377440" cy="38100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341884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913632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Calibri"/>
              </a:rPr>
              <a:t>product categories live today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0" y="3291840"/>
            <a:ext cx="2377440" cy="38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0" y="341884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913632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Calibri"/>
              </a:rPr>
              <a:t>languages — English &amp; Tetum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92040"/>
            <a:ext cx="10881360" cy="123444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Why 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4068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Mobile and mobile-money adoption continues to grow while trusted local e-commerce infrastructure has not kept pace — a structurally similar gap to those addressed by early movers such as Jumia, Tokopedia, and Konga in their respective markets.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B6B6B"/>
                </a:solidFill>
                <a:latin typeface="Calibri"/>
              </a:rPr>
              <a:t>TimorMart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D2232A"/>
                </a:solidFill>
                <a:latin typeface="Calibri"/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libri"/>
              </a:rPr>
              <a:t>Built for this market — not adapted to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E7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TimorMart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Facebook</a:t>
                      </a:r>
                    </a:p>
                    <a:p>
                      <a:r>
                        <a:t>Marketplace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OLX-style</a:t>
                      </a:r>
                    </a:p>
                    <a:p>
                      <a:r>
                        <a:t>regional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Informal /</a:t>
                      </a:r>
                    </a:p>
                    <a:p>
                      <a:r>
                        <a:t>in-person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B2B"/>
                          </a:solidFill>
                        </a:rPr>
                        <a:t>Tetum language</a:t>
                      </a:r>
                    </a:p>
                  </a:txBody>
                  <a:tcPr marT="76200" marB="76200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D2232A"/>
                          </a:solidFill>
                        </a:rPr>
                        <a:t>✓</a:t>
                      </a:r>
                    </a:p>
                  </a:txBody>
                  <a:tcPr marT="76200" marB="76200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6B6B6B"/>
                          </a:solidFill>
                        </a:rPr>
                        <a:t>✗</a:t>
                      </a:r>
                    </a:p>
                  </a:txBody>
                  <a:tcPr marT="76200" marB="76200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6B6B6B"/>
                          </a:solidFill>
                        </a:rPr>
                        <a:t>✗</a:t>
                      </a:r>
                    </a:p>
                  </a:txBody>
                  <a:tcPr marT="76200" marB="76200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6B6B6B"/>
                          </a:solidFill>
                        </a:rPr>
                        <a:t>n/a</a:t>
                      </a:r>
                    </a:p>
                  </a:txBody>
                  <a:tcPr marT="76200" marB="76200"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B2B"/>
                          </a:solidFill>
                        </a:rPr>
                        <a:t>Seller moderation &amp; verification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D2232A"/>
                          </a:solidFill>
                        </a:rPr>
                        <a:t>✓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6B6B6B"/>
                          </a:solidFill>
                        </a:rPr>
                        <a:t>✗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</a:rPr>
                        <a:t>Partial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6B6B6B"/>
                          </a:solidFill>
                        </a:rPr>
                        <a:t>✗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B2B"/>
                          </a:solidFill>
                        </a:rPr>
                        <a:t>Local bank / mobile transfer flow</a:t>
                      </a:r>
                    </a:p>
                  </a:txBody>
                  <a:tcPr marT="76200" marB="76200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D2232A"/>
                          </a:solidFill>
                        </a:rPr>
                        <a:t>✓</a:t>
                      </a:r>
                    </a:p>
                  </a:txBody>
                  <a:tcPr marT="76200" marB="76200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6B6B6B"/>
                          </a:solidFill>
                        </a:rPr>
                        <a:t>✗</a:t>
                      </a:r>
                    </a:p>
                  </a:txBody>
                  <a:tcPr marT="76200" marB="76200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6B6B6B"/>
                          </a:solidFill>
                        </a:rPr>
                        <a:t>✗</a:t>
                      </a:r>
                    </a:p>
                  </a:txBody>
                  <a:tcPr marT="76200" marB="76200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</a:rPr>
                        <a:t>✓</a:t>
                      </a:r>
                    </a:p>
                  </a:txBody>
                  <a:tcPr marT="76200" marB="76200"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B2B"/>
                          </a:solidFill>
                        </a:rPr>
                        <a:t>Delivery tracking + photo proof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D2232A"/>
                          </a:solidFill>
                        </a:rPr>
                        <a:t>✓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6B6B6B"/>
                          </a:solidFill>
                        </a:rPr>
                        <a:t>✗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6B6B6B"/>
                          </a:solidFill>
                        </a:rPr>
                        <a:t>✗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6B6B6B"/>
                          </a:solidFill>
                        </a:rPr>
                        <a:t>✗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B2B"/>
                          </a:solidFill>
                        </a:rPr>
                        <a:t>Dispute resolution</a:t>
                      </a:r>
                    </a:p>
                  </a:txBody>
                  <a:tcPr marT="76200" marB="76200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D2232A"/>
                          </a:solidFill>
                        </a:rPr>
                        <a:t>✓</a:t>
                      </a:r>
                    </a:p>
                  </a:txBody>
                  <a:tcPr marT="76200" marB="76200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6B6B6B"/>
                          </a:solidFill>
                        </a:rPr>
                        <a:t>✗</a:t>
                      </a:r>
                    </a:p>
                  </a:txBody>
                  <a:tcPr marT="76200" marB="76200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</a:rPr>
                        <a:t>Partial</a:t>
                      </a:r>
                    </a:p>
                  </a:txBody>
                  <a:tcPr marT="76200" marB="76200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6B6B6B"/>
                          </a:solidFill>
                        </a:rPr>
                        <a:t>✗</a:t>
                      </a:r>
                    </a:p>
                  </a:txBody>
                  <a:tcPr marT="76200" marB="76200"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B2B"/>
                          </a:solidFill>
                        </a:rPr>
                        <a:t>Digital record / discoverability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D2232A"/>
                          </a:solidFill>
                        </a:rPr>
                        <a:t>✓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</a:rPr>
                        <a:t>Partial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</a:rPr>
                        <a:t>✓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6B6B6B"/>
                          </a:solidFill>
                        </a:rPr>
                        <a:t>✗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B6B6B"/>
                </a:solidFill>
                <a:latin typeface="Calibri"/>
              </a:rPr>
              <a:t>TimorMart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D2232A"/>
                </a:solidFill>
                <a:latin typeface="Calibri"/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libri"/>
              </a:rPr>
              <a:t>Phased market entry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E7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3493008" cy="416052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93008" cy="50800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29809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Phase 1 — Soft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95728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2232A"/>
                </a:solidFill>
                <a:latin typeface="Calibri"/>
              </a:rPr>
              <a:t>Months 1–3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788920"/>
            <a:ext cx="2980944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Calibri"/>
              </a:rPr>
              <a:t>Dili &amp; surrounding areas; 10–20 anchor sellers via local business associations; WhatsApp-group community building.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6112" y="4800600"/>
            <a:ext cx="2980944" cy="0"/>
          </a:xfrm>
          <a:prstGeom prst="line">
            <a:avLst/>
          </a:prstGeom>
          <a:ln w="12700">
            <a:solidFill>
              <a:srgbClr val="E7E1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112" y="4937760"/>
            <a:ext cx="29809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100–200 sellers · 1,000–2,000 buyers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1783080"/>
            <a:ext cx="3493008" cy="416052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34256" y="1783080"/>
            <a:ext cx="3493008" cy="50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011680"/>
            <a:ext cx="29809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Phase 2 —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95728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2232A"/>
                </a:solidFill>
                <a:latin typeface="Calibri"/>
              </a:rPr>
              <a:t>Months 4–12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788920"/>
            <a:ext cx="2980944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Calibri"/>
              </a:rPr>
              <a:t>Nationwide coverage; regional marketing in Tetum; partner with transport companies for delivery; SME onboarding workshops.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90288" y="4800600"/>
            <a:ext cx="2980944" cy="0"/>
          </a:xfrm>
          <a:prstGeom prst="line">
            <a:avLst/>
          </a:prstGeom>
          <a:ln w="12700">
            <a:solidFill>
              <a:srgbClr val="E7E1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90288" y="4937760"/>
            <a:ext cx="29809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500–1,000 sellers · 5,000–10,000 buyers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8432" y="1783080"/>
            <a:ext cx="3493008" cy="416052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28432" y="1783080"/>
            <a:ext cx="3493008" cy="50800"/>
          </a:xfrm>
          <a:prstGeom prst="rect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84464" y="2011680"/>
            <a:ext cx="298094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Phase 3 —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395728"/>
            <a:ext cx="29809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2232A"/>
                </a:solidFill>
                <a:latin typeface="Calibri"/>
              </a:rPr>
              <a:t>Year 2+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2788920"/>
            <a:ext cx="2980944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Calibri"/>
              </a:rPr>
              <a:t>Subscription tier growth, advertising marketplace, strategic payments/logistics partnerships, expansion toward B2B/wholesale.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84464" y="4800600"/>
            <a:ext cx="2980944" cy="0"/>
          </a:xfrm>
          <a:prstGeom prst="line">
            <a:avLst/>
          </a:prstGeom>
          <a:ln w="12700">
            <a:solidFill>
              <a:srgbClr val="E7E1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84464" y="4937760"/>
            <a:ext cx="29809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2,000–3,000 sellers · 20,000–30,000 buyers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B6B6B"/>
                </a:solidFill>
                <a:latin typeface="Calibri"/>
              </a:rPr>
              <a:t>TimorMart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D2232A"/>
                </a:solidFill>
                <a:latin typeface="Calibri"/>
              </a:rPr>
              <a:t>FINANCIAL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Illustrative three-year financial projection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E7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Year 1 — Build &amp; Launch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Year 2 — Growth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Year 3 — Scale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</a:rPr>
                        <a:t>Active sellers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500 – 1,000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2,000 – 3,000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5,000+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</a:rPr>
                        <a:t>Active buyers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5,000 – 10,000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20,000 – 30,000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50,000+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</a:rPr>
                        <a:t>Monthly GMV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$50K – $100K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$200K – $300K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$500K+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</a:rPr>
                        <a:t>Monthly revenue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$8.75K – $17.5K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$35K – $50K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</a:rPr>
                        <a:t>$75K+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</a:rPr>
                        <a:t>EBITDA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2232A"/>
                          </a:solidFill>
                        </a:rPr>
                        <a:t>Investment mode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2232A"/>
                          </a:solidFill>
                        </a:rPr>
                        <a:t>Approaching profitability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D2232A"/>
                          </a:solidFill>
                        </a:rPr>
                        <a:t>Profitable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6B6B6B"/>
                </a:solidFill>
                <a:latin typeface="Calibri"/>
              </a:rPr>
              <a:t>Break-even is projected at approximately 1,000 monthly transactions (~$100K GMV), with sustained profitability above approximately 2,000 monthly transactions. These figures represent directional planning targets rather than audited forecasts and should be refined using cohort data following the Phase 1 launch.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B6B6B"/>
                </a:solidFill>
                <a:latin typeface="Calibri"/>
              </a:rPr>
              <a:t>TimorMart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D2232A"/>
                </a:solidFill>
                <a:latin typeface="Calibri"/>
              </a:rPr>
              <a:t>WHERE WE ARE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Current platform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E7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●  Full-stack platform operational in a demonstration environment — catalog, cart, checkout, orders, delivery, disputes, and ratings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●  Both payment paths implemented — Stripe card and direct bank/mobile transfer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●  Administrator dashboard — moderation, payouts, subscriptions, platform settings, and a full audit log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●  Bilingual interface — English and Tetum, including the platform's most recent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78308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●  Independently assessed through a structured user-acceptance testing pass across all five roles, covering security and performance, with all identified issues verified as resolved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●  Role-based access control confirmed effective across every administrative and storefront surface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●  Outstanding items: production payment credentials, live seller/buyer onboarding, and execution of the Phase 1 go-to-market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532120"/>
            <a:ext cx="10881360" cy="7772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5687568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The platform is fully functional and prepared for the onboarding of initial sellers and buyers.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B6B6B"/>
                </a:solidFill>
                <a:latin typeface="Calibri"/>
              </a:rPr>
              <a:t>TimorMart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D2232A"/>
                </a:solidFill>
                <a:latin typeface="Calibri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libri"/>
              </a:rPr>
              <a:t>Near-term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881360" cy="25400"/>
          </a:xfrm>
          <a:prstGeom prst="rect">
            <a:avLst/>
          </a:prstGeom>
          <a:solidFill>
            <a:srgbClr val="E7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554480" cy="1143000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5544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828800"/>
            <a:ext cx="90982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Production Stripe credentials · self-service buyer/seller profile editing · email verification on signup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46120"/>
            <a:ext cx="1554480" cy="1143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5544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3246120"/>
            <a:ext cx="90982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Logistics/courier partnerships beyond the in-app courier role · buyer wishlist · direct buyer↔seller messaging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63440"/>
            <a:ext cx="1554480" cy="1143000"/>
          </a:xfrm>
          <a:prstGeom prst="rect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15544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</a:rPr>
              <a:t>Later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4663440"/>
            <a:ext cx="90982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Featured-listing &amp; category advertising revenue · financing/trade-credit for sellers · expansion beyond Dili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B6B6B"/>
                </a:solidFill>
                <a:latin typeface="Calibri"/>
              </a:rPr>
              <a:t>TimorMart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2C44D"/>
                </a:solidFill>
                <a:latin typeface="Calibri"/>
              </a:rPr>
              <a:t>PARTNERSHIP AND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TimorMart is seeking pilot partners, investors, and logistics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collaborators to support its initial market launch.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108960"/>
            <a:ext cx="82296" cy="1554480"/>
          </a:xfrm>
          <a:prstGeom prst="rect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Seed / pilot funding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CFCFCF"/>
                </a:solidFill>
                <a:latin typeface="Calibri"/>
              </a:rPr>
              <a:t>To fund production payment infrastructure, moderation staffing, and the Phase 1 Dili launch.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108960"/>
            <a:ext cx="82296" cy="1554480"/>
          </a:xfrm>
          <a:prstGeom prst="rect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31089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Distribution partners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56616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CFCFCF"/>
                </a:solidFill>
                <a:latin typeface="Calibri"/>
              </a:rPr>
              <a:t>Local business associations, transport and logistics operators, and community networks.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3108960"/>
            <a:ext cx="82296" cy="1554480"/>
          </a:xfrm>
          <a:prstGeom prst="rect">
            <a:avLst/>
          </a:prstGeom>
          <a:solidFill>
            <a:srgbClr val="F2C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31089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Anchor sellers and buyers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56616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CFCFCF"/>
                </a:solidFill>
                <a:latin typeface="Calibri"/>
              </a:rPr>
              <a:t>Ten to twenty anchor sellers and a founding buyer community to validate the model in a live market.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5120640"/>
            <a:ext cx="10515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TimorMart — EasyFind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6B6B6B"/>
                </a:solidFill>
                <a:latin typeface="Calibri"/>
              </a:rPr>
              <a:t>[ contact name  ·  email  ·  phone — add before sending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1481</Words>
  <Application>Microsoft Office PowerPoint</Application>
  <PresentationFormat>Widescreen</PresentationFormat>
  <Paragraphs>233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DaCosta, Januario (FAOTL)</cp:lastModifiedBy>
  <cp:revision>1</cp:revision>
  <dcterms:created xsi:type="dcterms:W3CDTF">2013-01-27T09:14:16Z</dcterms:created>
  <dcterms:modified xsi:type="dcterms:W3CDTF">2026-07-15T07:19:07Z</dcterms:modified>
  <cp:category/>
</cp:coreProperties>
</file>